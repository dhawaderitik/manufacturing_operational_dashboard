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9260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 REQUIREMENTS BRIEF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Operational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Dashboard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Visual Guide · 8 Pages · 35+ Visuals · KPIs &amp; Slicers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75B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Source: SQL Server  |  Tool: Power BI  |  View: vw_ProductionSummary  |  Date Range: 2020–2021  |  Rows: 2,000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5176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Dashboard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</a:rPr>
              <a:t>35+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Total Visuals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9144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914400"/>
            <a:ext cx="2651760" cy="73152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50"/>
                </a:solidFill>
              </a:rPr>
              <a:t>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08076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Dimension 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06040"/>
            <a:ext cx="2651760" cy="7315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743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00"/>
                </a:solidFill>
              </a:rPr>
              <a:t>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20040" y="3474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Fact 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6060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606040"/>
            <a:ext cx="265176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743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</a:rPr>
              <a:t>2000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200400" y="3474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Fact Rows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6060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606040"/>
            <a:ext cx="265176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743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</a:rPr>
              <a:t>2020–21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080760" y="3474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Date Range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BDD7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📌  Single View Strategy: Import ONLY vw_ProductionSummary into Power BI — all 8 pages built from one source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High-Level KPI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160934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Units Produced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SUM(UnitsProduced)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0824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0824" y="804672"/>
            <a:ext cx="1609344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3" name="Text 11"/>
          <p:cNvSpPr/>
          <p:nvPr/>
        </p:nvSpPr>
        <p:spPr>
          <a:xfrm>
            <a:off x="2020824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Yield Rate 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20824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&gt; 90% = 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21608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21608" y="804672"/>
            <a:ext cx="1609344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3721608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Scrap Rate 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21608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&lt; 5% = 🟢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22392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22392" y="804672"/>
            <a:ext cx="1609344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22392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Downtime Rate 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22392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&lt; 5% = 🟢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23176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804672"/>
            <a:ext cx="1609344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Cost Variance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23176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&lt; 0 = 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Clustered Bar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Units Produced vs Good vs Scrap — by Quarter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Line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Monthly Production Trend — UnitsProduced &amp; UnitsGood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Donut Chart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Actual Cost vs Standard Cost split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KPI Cards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OEE Score, Throughput per Hour, Total Cost Variance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 (2020 / 2021)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 (Q1–Q4)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3" name="Text 51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Name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Plant Type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9" name="Text 57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Region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Manufacturing Operational Intelligence Dashboard  ·  Page 1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Factory Performance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OEE · Yield · Downtime · Cost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1609344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Best Yield Factory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TOP 1 Yield%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0824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0824" y="804672"/>
            <a:ext cx="1609344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020824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Worst Yield Factory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20824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BOTTOM 1 Yield%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21608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21608" y="804672"/>
            <a:ext cx="160934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3721608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Avg OEE Score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21608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Target &gt; 85%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22392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22392" y="804672"/>
            <a:ext cx="1609344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22392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Highest Downtime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22392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Factory Name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23176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804672"/>
            <a:ext cx="1609344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Lowest Cost/Unit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23176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Most Efficient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Yield Rate % by Factory — conditional color coding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Downtime Rate % by Factory — Green/Yellow/Red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Column Chart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OEE Score by Factory — reference line at 85%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Column Chart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Cost Per Good Unit by Factory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657600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657600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" y="3657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Ranked Table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69164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| Yield% | Scrap% | Downtime% | Cost | OEE | Rank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1" name="Text 49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4" name="Text 52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Plant Type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7" name="Text 55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Name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0" name="Text 58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Country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3" name="Text 61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</a:rPr>
              <a:t>Manufacturing Operational Intelligence Dashboard  ·  Page 2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Quality &amp; Scrap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Where Are We Losing Product?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3454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Scrap Units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SUM(UnitsScrap)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602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804672"/>
            <a:ext cx="203454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244602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Scrap Rate 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4602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&lt; 3% = Excellent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04672"/>
            <a:ext cx="203454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Scrap Cost Impact $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Lost Revenue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9798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7980" y="804672"/>
            <a:ext cx="2034540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1" name="Text 19"/>
          <p:cNvSpPr/>
          <p:nvPr/>
        </p:nvSpPr>
        <p:spPr>
          <a:xfrm>
            <a:off x="669798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Quality Rating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9798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Excellent→Poor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Scrap Rate % by Factory — Red gradient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Treemap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Total Scrap Units by Product Category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Line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Monthly Scrap Trend — 2020 vs 2021 comparison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Donut Chart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Quality Rating Distribution — Excellent/Good/Average/Poor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657600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57600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657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Top 10 Products by Scrap Rate 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Name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Category Name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Plant Type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0000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</a:rPr>
              <a:t>Manufacturing Operational Intelligence Dashboard  ·  Page 3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Downtime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Every Hour Lost Costs Money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1609344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Downtime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SUM(DowntimeHours)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0824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0824" y="804672"/>
            <a:ext cx="1609344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2020824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Downtime Rate 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20824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&lt; 5% = 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21608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21608" y="804672"/>
            <a:ext cx="160934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3721608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Production Hours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21608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SUM(ProductionHours)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22392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22392" y="804672"/>
            <a:ext cx="1609344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22392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Cost of Downtime $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22392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Financial Impact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23176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804672"/>
            <a:ext cx="1609344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Downtime Status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23176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Critical / Good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Downtime Rate % by Factory — traffic light colors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Line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Monthly Downtime Trend — 2020 vs 2021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Stacked Bar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Effective Hours vs Downtime Hours by Factory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Status Table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| Downtime% | Cost Impact | 🟢🟡🟠🔴 Status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7" name="Text 45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3" name="Text 51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Name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Plant Type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9" name="Text 57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8C00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00"/>
                </a:solidFill>
              </a:rPr>
              <a:t>Manufacturing Operational Intelligence Dashboard  ·  Page 4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Cost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Standard vs Actual — Where Is Money Going?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160934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Standard Cost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SUM(StandardCost)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0824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0824" y="804672"/>
            <a:ext cx="1609344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2020824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Actual Cost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20824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SUM(ActualCost)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21608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21608" y="804672"/>
            <a:ext cx="1609344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721608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Cost Variance $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21608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Actual - Standard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22392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22392" y="804672"/>
            <a:ext cx="1609344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1" name="Text 19"/>
          <p:cNvSpPr/>
          <p:nvPr/>
        </p:nvSpPr>
        <p:spPr>
          <a:xfrm>
            <a:off x="5422392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Cost Variance 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22392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&lt; 0% = Under Budget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23176" y="804672"/>
            <a:ext cx="160934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804672"/>
            <a:ext cx="1609344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859536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Budget Status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23176" y="1133856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Under/Over/Critical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Clustered Bar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Standard Cost vs Actual Cost by Factory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Waterfall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Cost Variance by Factory — Green/Red bars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Line Chart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Monthly Cost Trend — Actual vs Standard over time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Column Chart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Cost Per Good Unit by Factory with avg reference line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657600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657600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" y="3657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Budget Table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69164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| StdCost | ActCost | Variance | % | Status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Factory Name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0" name="Text 58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Supplier Name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Text 61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Month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Manufacturing Operational Intelligence Dashboard  ·  Page 5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Regional &amp; Channel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Where Are We Producing &amp; Selling?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3454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Top Region Output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MAX(UnitsGood)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602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804672"/>
            <a:ext cx="2034540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3" name="Text 11"/>
          <p:cNvSpPr/>
          <p:nvPr/>
        </p:nvSpPr>
        <p:spPr>
          <a:xfrm>
            <a:off x="244602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Top Country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4602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By Good Units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04672"/>
            <a:ext cx="20345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Best Channel Yield%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Highest Yield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9798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7980" y="804672"/>
            <a:ext cx="20345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69798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Regions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9798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13 Countries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Map Visual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Good Units by Country — filled map with intensity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Donut Chart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Output by Channel — Retail/B2B/OEM/Online/Distributor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Good Units by Country — ranked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Bar Chart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Yield Rate % by Sales Channel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43" name="Text 41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46" name="Text 44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Sales Region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49" name="Text 47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Sales Country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52" name="Text 50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Channel Name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55" name="Text 53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050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050"/>
                </a:solidFill>
              </a:rPr>
              <a:t>Manufacturing Operational Intelligence Dashboard  ·  Page 6 of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Supplier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Are Suppliers Helping or Hurting?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3454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Suppliers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6 Suppliers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602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804672"/>
            <a:ext cx="2034540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3" name="Text 11"/>
          <p:cNvSpPr/>
          <p:nvPr/>
        </p:nvSpPr>
        <p:spPr>
          <a:xfrm>
            <a:off x="244602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Best Supplier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4602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Highest Yield%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04672"/>
            <a:ext cx="203454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Worst Supplier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Highest Scrap%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9798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7980" y="804672"/>
            <a:ext cx="203454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9798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Supplier Cost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9798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SUM(ActualCost)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Units Produced by Supplier — ranked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Scrap Rate % by Supplier — who causes most waste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Pie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Supplier Type Distribution — Raw/Component/Logistics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Bar Chart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Cost Variance by Supplier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657600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57600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657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Scorecard Table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Supplier | Type | Units | Scrap% | Cost | Variance | Rank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7" name="Text 45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0" name="Text 48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Supplier Name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3" name="Text 51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Supplier Type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Supplier Region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9" name="Text 57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Quarter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D28D9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</a:rPr>
              <a:t>Manufacturing Operational Intelligence Dashboard  ·  Page 7 of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73152" y="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Stars vs Problems — Which Products to Keep?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3454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Products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200 Products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602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804672"/>
            <a:ext cx="2034540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3" name="Text 11"/>
          <p:cNvSpPr/>
          <p:nvPr/>
        </p:nvSpPr>
        <p:spPr>
          <a:xfrm>
            <a:off x="244602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Best Yield Product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4602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</a:rPr>
              <a:t>TOP 1 Yield%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04672"/>
            <a:ext cx="203454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Worst Scrap Product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TOP 1 Scrap%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97980" y="804672"/>
            <a:ext cx="20345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7980" y="804672"/>
            <a:ext cx="20345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697980" y="859536"/>
            <a:ext cx="2034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Top Category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97980" y="1133856"/>
            <a:ext cx="20345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Highest Volume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📊  Dashboard Visuals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🎛  Slicers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121408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21408"/>
            <a:ext cx="54864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</a:rPr>
              <a:t>Horiz. Bar Chart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91640" y="21214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Top 10 Products by Good Units Output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505456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505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Treemap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25054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Product Category Performance — size = volume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889504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9504"/>
            <a:ext cx="54864" cy="32918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889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050"/>
                </a:solidFill>
              </a:rPr>
              <a:t>Column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288950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Yield Rate % by Category Name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273552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273552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00"/>
                </a:solidFill>
              </a:rPr>
              <a:t>Scatter Plot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32735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Launch Year vs Yield Rate — newer = better?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657600"/>
            <a:ext cx="576072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57600"/>
            <a:ext cx="5486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3657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</a:rPr>
              <a:t>Product Table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69164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Product | Category | Units | Yield% | Scrap% | Cost | Rank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2121408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7" name="Text 45"/>
          <p:cNvSpPr/>
          <p:nvPr/>
        </p:nvSpPr>
        <p:spPr>
          <a:xfrm>
            <a:off x="6556248" y="2121408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Year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46520" y="2505456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6520" y="2505456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6556248" y="250545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Category Name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46520" y="2889504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46520" y="2889504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3" name="Text 51"/>
          <p:cNvSpPr/>
          <p:nvPr/>
        </p:nvSpPr>
        <p:spPr>
          <a:xfrm>
            <a:off x="6556248" y="288950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Business Division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3273552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46520" y="3273552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3273552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Technology Type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46520" y="3657600"/>
            <a:ext cx="54864" cy="32918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9" name="Text 57"/>
          <p:cNvSpPr/>
          <p:nvPr/>
        </p:nvSpPr>
        <p:spPr>
          <a:xfrm>
            <a:off x="6556248" y="365760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Launch Year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8C00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00"/>
                </a:solidFill>
              </a:rPr>
              <a:t>Manufacturing Operational Intelligence Dashboard  ·  Page 8 of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CONDITIONAL FORMATTING RULES — Apply to ALL Pages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14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 Metric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0360" y="822960"/>
            <a:ext cx="14173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822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Excellent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822960"/>
            <a:ext cx="14173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822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Good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822960"/>
            <a:ext cx="14173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822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🟠 Average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822960"/>
            <a:ext cx="14173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822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🔴 Critical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234440"/>
            <a:ext cx="2514600" cy="4114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234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Yield Rate 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123444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1234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50"/>
                </a:solidFill>
              </a:rPr>
              <a:t>&gt; 90%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123444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43400" y="1234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&gt; 80%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123444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1234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&gt; 70%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123444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234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&lt; 70%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1709928"/>
            <a:ext cx="2514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7099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Scrap Rate 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80360" y="1709928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80360" y="17099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50"/>
                </a:solidFill>
              </a:rPr>
              <a:t>&lt; 3%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3400" y="1709928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43400" y="17099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&lt; 7%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709928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06440" y="17099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&lt; 12%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69480" y="1709928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17099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&gt; 12%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2185416"/>
            <a:ext cx="2514600" cy="4114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218541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Downtime Rate 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2185416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880360" y="21854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50"/>
                </a:solidFill>
              </a:rPr>
              <a:t>&lt; 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43400" y="2185416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343400" y="21854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&lt; 10%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06440" y="2185416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06440" y="21854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&lt; 15%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69480" y="2185416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9480" y="218541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&gt; 15%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2660904"/>
            <a:ext cx="2514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266090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Cost Variance 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880360" y="2660904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880360" y="266090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50"/>
                </a:solidFill>
              </a:rPr>
              <a:t>&lt; 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43400" y="2660904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343400" y="266090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&lt; 5%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06440" y="2660904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806440" y="266090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&lt; 10%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269480" y="2660904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269480" y="266090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&gt; 10%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3136392"/>
            <a:ext cx="2514600" cy="4114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31363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OEE Score 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80360" y="3136392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880360" y="3136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50"/>
                </a:solidFill>
              </a:rPr>
              <a:t>&gt; 85%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43400" y="3136392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343400" y="3136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&gt; 70%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806440" y="3136392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806440" y="3136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&gt; 60%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269480" y="3136392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269480" y="3136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&lt; 60%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20040" y="3611880"/>
            <a:ext cx="2514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320040" y="36118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Plant Efficiency 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880360" y="361188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88036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50"/>
                </a:solidFill>
              </a:rPr>
              <a:t>&gt; 90%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343400" y="361188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34340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&gt; 80%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806440" y="361188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80644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&gt; 70%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269480" y="3611880"/>
            <a:ext cx="14173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7269480" y="3611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&lt; 70%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57200" y="4251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Budget Status: 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737360" y="4434840"/>
            <a:ext cx="1645920" cy="2743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77" name="Text 75"/>
          <p:cNvSpPr/>
          <p:nvPr/>
        </p:nvSpPr>
        <p:spPr>
          <a:xfrm>
            <a:off x="173736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 Budget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566160" y="4434840"/>
            <a:ext cx="1645920" cy="2743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9" name="Text 77"/>
          <p:cNvSpPr/>
          <p:nvPr/>
        </p:nvSpPr>
        <p:spPr>
          <a:xfrm>
            <a:off x="356616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Within Tolerance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394960" y="4434840"/>
            <a:ext cx="1645920" cy="2743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81" name="Text 79"/>
          <p:cNvSpPr/>
          <p:nvPr/>
        </p:nvSpPr>
        <p:spPr>
          <a:xfrm>
            <a:off x="539496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 Budget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223760" y="4434840"/>
            <a:ext cx="1645920" cy="2743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3" name="Text 81"/>
          <p:cNvSpPr/>
          <p:nvPr/>
        </p:nvSpPr>
        <p:spPr>
          <a:xfrm>
            <a:off x="722376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 Overrun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SETUP GUIDE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05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05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82296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Open Power BI Desktop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950976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82296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Launch Power BI and create a new file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08176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9047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40817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Get Data → SQL Server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536192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40817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Enter your SQL Server name and database: ManufacturingDB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07568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19933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Select Import Mode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121408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99339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Choose Import (NOT DirectQuery) for best performance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660904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257860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Select vw_ProductionSummary ONLY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2706624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5786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Tick only this view — do NOT import raw tables or other views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163824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2461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31638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Load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3291840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316382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Click Load — all 2,000 rows load into Power BI memory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49040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383133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374904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Create DAX Measures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3877056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374904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Build Yield%, Scrap%, Downtime%, OEE, CostVariance measures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334256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" y="441655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" y="433425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Build 8 Dashboard Pages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49040" y="4462272"/>
            <a:ext cx="27432" cy="27432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0" y="433425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Follow the visual guide in this document for each page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DAX MEASURES — Create These in Power BI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778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Yield Rate 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5214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DIVIDE(SUM([UnitsGood]), SUM([UnitsProduced])) * 100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416052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778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Scrap Rate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152144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5214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DIVIDE(SUM([UnitsScrap]), SUM([UnitsProduced])) * 100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28800"/>
            <a:ext cx="416052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901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</a:rPr>
              <a:t>Downtime Rate 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176272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76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DIVIDE(SUM([DowntimeHours]), SUM([ProductionHours])) * 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8288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828800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901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Plant Efficiency 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176272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176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DIVIDE(SUM([PlantWorkingHours]), SUM([ProductionHours])) * 100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85292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52928"/>
            <a:ext cx="416052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Cost Variance $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200400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00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SUM([ActualCost]) - SUM([StandardCost])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85292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852928"/>
            <a:ext cx="416052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Cost Variance 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200400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00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DIVIDE([Cost Variance $], SUM([StandardCost])) * 100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87705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877056"/>
            <a:ext cx="41605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950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OEE Score 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224528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245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[Plant Efficiency %] * [Yield Rate %] / 100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87705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877056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950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Units Per Hour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4224528"/>
            <a:ext cx="397764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42245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DIVIDE(SUM([UnitsGood]), SUM([ProductionHours]))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2E75B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DELIVERABLES CHECKLIST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</a:rPr>
              <a:t>What I expect from you as my developer: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34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1234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8-Page Power BI Dashboard (.pbix file)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234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0" y="1234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 Master Script — All tables + data in correct order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47672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47672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19476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5880" y="19476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vw_ProductionSummary — Base view for Power BI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947672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947672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9476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60720" y="19476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 8 SQL Views for reference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60904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60904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266090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25880" y="266090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 Global Slicers synced across all pages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660904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60904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266090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60720" y="266090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Conditional formatting on all KPI visuals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374136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374136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37413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25880" y="337413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Color theme consistent across all 8 pages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374136"/>
            <a:ext cx="4206240" cy="594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374136"/>
            <a:ext cx="54864" cy="59436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37413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50"/>
                </a:solidFill>
              </a:rPr>
              <a:t>✓ MUST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60720" y="337413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Tooltips enabled on every visual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087368"/>
            <a:ext cx="4206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087368"/>
            <a:ext cx="54864" cy="5943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0" name="Text 38"/>
          <p:cNvSpPr/>
          <p:nvPr/>
        </p:nvSpPr>
        <p:spPr>
          <a:xfrm>
            <a:off x="429768" y="40873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★ BONUS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25880" y="40873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Executive Summary mobile layout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087368"/>
            <a:ext cx="4206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4087368"/>
            <a:ext cx="54864" cy="5943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40873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★ BONUS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60720" y="40873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PDF export of final dashboard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🏆  Build this dashboard and you will have a project that stands out in any Data Analyst / BI Developer resume!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Operational Intelligence Dashboard - Client Requirements</dc:title>
  <dc:subject>PptxGenJS Presentation</dc:subject>
  <dc:creator>PptxGenJS</dc:creator>
  <cp:lastModifiedBy>PptxGenJS</cp:lastModifiedBy>
  <cp:revision>1</cp:revision>
  <dcterms:created xsi:type="dcterms:W3CDTF">2026-04-06T08:08:09Z</dcterms:created>
  <dcterms:modified xsi:type="dcterms:W3CDTF">2026-04-06T08:08:09Z</dcterms:modified>
</cp:coreProperties>
</file>